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7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570865"/>
            <a:ext cx="9144000" cy="1731010"/>
          </a:xfrm>
        </p:spPr>
        <p:txBody>
          <a:bodyPr>
            <a:normAutofit/>
          </a:bodyPr>
          <a:p>
            <a:pPr algn="ctr"/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АВТОНОМНАЯ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НЕКОММЕРЧЕСКАЯ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ОРГАНИЗАЦИЯ</a:t>
            </a:r>
            <a:b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ПРОФЕССИОНАЛЬНАЯ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ОБРАЗОВАТЕЛЬНАЯ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ОРГАНИЗАЦИЯ</a:t>
            </a:r>
            <a:b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МОСКОВСКИЙ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МЕЖДУНАРОДНЫЙ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КОЛЛЕДЖ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ЦИФРОВЫХ</a:t>
            </a:r>
            <a:b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ТЕХНОЛОГИЙ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АКАДЕМИЯ</a:t>
            </a:r>
            <a:r>
              <a:rPr lang="en-US" altLang="ru-RU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ТОП</a:t>
            </a:r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»</a:t>
            </a:r>
            <a:br>
              <a:rPr lang="en-US" altLang="en-US" sz="1335"/>
            </a:br>
            <a:br>
              <a:rPr lang="en-US" altLang="ru-RU" sz="1335"/>
            </a:br>
            <a:endParaRPr lang="en-US" altLang="ru-RU" sz="1335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1969135"/>
            <a:ext cx="9144000" cy="4187825"/>
          </a:xfrm>
        </p:spPr>
        <p:txBody>
          <a:bodyPr>
            <a:normAutofit fontScale="40000"/>
          </a:bodyPr>
          <a:p>
            <a:pPr algn="ctr"/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Проектная</a:t>
            </a: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работа</a:t>
            </a:r>
            <a:b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Тема</a:t>
            </a: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</a:t>
            </a:r>
            <a:b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(</a:t>
            </a: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Кошелек</a:t>
            </a: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«учет</a:t>
            </a: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личных</a:t>
            </a: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расходов»</a:t>
            </a:r>
            <a:r>
              <a:rPr lang="en-US" altLang="ru-RU" sz="7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endParaRPr lang="en-US" altLang="ru-RU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endParaRPr lang="en-US" altLang="ru-RU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r"/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Выполнил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Ямщинин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Григорий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Алексеевич</a:t>
            </a:r>
            <a:b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Группа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РПО</a:t>
            </a:r>
            <a:b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Руководитель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Концевич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Андрей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Алексеевич</a:t>
            </a:r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b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b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Иркутск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  <a:sym typeface="+mn-ea"/>
              </a:rPr>
              <a:t> 2026</a:t>
            </a:r>
            <a:endParaRPr lang="ru-RU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Цель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и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задачи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проектного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проектирования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5032375"/>
          </a:xfrm>
        </p:spPr>
        <p:txBody>
          <a:bodyPr>
            <a:noAutofit/>
          </a:bodyPr>
          <a:p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Цель</a:t>
            </a:r>
            <a:r>
              <a:rPr lang="en-US" altLang="ru-RU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проектного</a:t>
            </a:r>
            <a:r>
              <a:rPr lang="en-US" altLang="ru-RU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проектирования</a:t>
            </a:r>
            <a:r>
              <a:rPr lang="ru-RU" altLang="en-US" sz="16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Разработать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кроссплатформенное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мобильное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приложение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учёта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личных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расходов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интуитивно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понятным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интерфейсом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позволяющее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пользователям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быстро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добавлять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редактировать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удалять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записи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тратах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а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также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анализировать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свои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расходы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категориям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Задачи</a:t>
            </a:r>
            <a:r>
              <a:rPr lang="en-US" altLang="ru-RU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проектного</a:t>
            </a:r>
            <a:r>
              <a:rPr lang="en-US" altLang="ru-RU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проектирования</a:t>
            </a:r>
            <a:r>
              <a:rPr lang="ru-RU" altLang="en-US" sz="16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1)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Провести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анализ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существующих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решений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учёта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расходов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2)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Спроектировать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удобную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структуру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базы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данных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хранения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информации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расходах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3)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Разработать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пользовательский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интерфейс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тёмной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темой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оформления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4)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Реализовать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функционал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CRUD-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операций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создание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чтение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редактирование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удаление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5)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Добавить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возможность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фильтрации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поиска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записей</a:t>
            </a:r>
            <a:endParaRPr lang="en-US" altLang="ru-RU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1600">
                <a:latin typeface="Times New Roman" panose="02020603050405020304" charset="0"/>
                <a:cs typeface="Times New Roman" panose="02020603050405020304" charset="0"/>
              </a:rPr>
              <a:t>6)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Провести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тестирование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разработанного</a:t>
            </a:r>
            <a:r>
              <a:rPr lang="en-US" altLang="ru-RU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приложения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99390"/>
          </a:xfrm>
        </p:spPr>
        <p:txBody>
          <a:bodyPr>
            <a:normAutofit fontScale="90000"/>
          </a:bodyPr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620395"/>
            <a:ext cx="10515600" cy="5556885"/>
          </a:xfrm>
        </p:spPr>
        <p:txBody>
          <a:bodyPr/>
          <a:p>
            <a:endParaRPr lang="ru-RU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3556000" y="595948"/>
            <a:ext cx="5080000" cy="37973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b="1">
                <a:solidFill>
                  <a:srgbClr val="0F1115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Краткий функционал программного продукта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5" name="Таблица 4"/>
          <p:cNvGraphicFramePr/>
          <p:nvPr/>
        </p:nvGraphicFramePr>
        <p:xfrm>
          <a:off x="2600960" y="1114108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</a:tblGrid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Функция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Описание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Добавление расходов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Пользователь может добавить новый расход с указанием названия, суммы и категории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Просмотр списка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Все расходы отображаются в виде списка с датой, категорией и суммой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Редактирование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Возможность изменить название, сумму или категорию существующего расхода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Удаление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Удаление записи свайпом влево с подтверждением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Поиск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Поиск по названию или точной сумме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Фильтрация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Фильтрация расходов по категориям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Сортировка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Сортировка по дате, сумме или названию</a:t>
                      </a:r>
                      <a:endParaRPr lang="en-US" altLang="zh-CN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altLang="en-US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Добавление зарплаты </a:t>
                      </a:r>
                      <a:endParaRPr lang="ru-RU" altLang="en-US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ru-RU" altLang="en-US" sz="14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Пользователь может добавить сумму на которую собирается трать</a:t>
                      </a:r>
                      <a:endParaRPr lang="ru-RU" altLang="en-US" sz="14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Инструментальные</a:t>
            </a:r>
            <a:r>
              <a:rPr lang="en-US" altLang="ru-RU"/>
              <a:t> </a:t>
            </a:r>
            <a:r>
              <a:rPr lang="en-US" altLang="en-US"/>
              <a:t>средства</a:t>
            </a:r>
            <a:r>
              <a:rPr lang="en-US" altLang="ru-RU"/>
              <a:t> </a:t>
            </a:r>
            <a:r>
              <a:rPr lang="en-US" altLang="en-US"/>
              <a:t>разработки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12651740" y="3494405"/>
            <a:ext cx="10515600" cy="4351338"/>
          </a:xfrm>
        </p:spPr>
        <p:txBody>
          <a:bodyPr/>
          <a:p>
            <a:endParaRPr lang="ru-RU" altLang="en-US"/>
          </a:p>
        </p:txBody>
      </p:sp>
      <p:graphicFrame>
        <p:nvGraphicFramePr>
          <p:cNvPr id="4" name="Таблица 3"/>
          <p:cNvGraphicFramePr/>
          <p:nvPr/>
        </p:nvGraphicFramePr>
        <p:xfrm>
          <a:off x="853440" y="1381125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Этап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Инструмент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Назначение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Функциональное проектирование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Mind maps, Use Case диаграммы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Определение требований и функций системы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Проектирование БД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ER-диаграммы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Проектирование структуры данных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Проектирование интерфейса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Figma / Вручную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Создание макетов экранов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Среда разработки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Android Studio / VS Code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Написание и отладка кода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Язык программирования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Dart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Разработка логики приложения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Фреймворк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Flutter 3.x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Кроссплатформенная разработка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Тестирование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Flutter Widget Tests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800" b="0" i="0">
                          <a:solidFill>
                            <a:srgbClr val="0F1115"/>
                          </a:solidFill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</a:rPr>
                        <a:t>Автоматизированное тестирование</a:t>
                      </a:r>
                      <a:endParaRPr lang="en-US" altLang="zh-CN" sz="1800" b="0" i="0">
                        <a:solidFill>
                          <a:srgbClr val="0F1115"/>
                        </a:solidFill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Диаграмма</a:t>
            </a:r>
            <a:r>
              <a:rPr lang="en-US" altLang="ru-RU"/>
              <a:t> </a:t>
            </a:r>
            <a:r>
              <a:rPr lang="en-US" altLang="en-US"/>
              <a:t>вариантов</a:t>
            </a:r>
            <a:r>
              <a:rPr lang="en-US" altLang="ru-RU"/>
              <a:t> </a:t>
            </a:r>
            <a:r>
              <a:rPr lang="en-US" altLang="en-US"/>
              <a:t>использования</a:t>
            </a:r>
            <a:br>
              <a:rPr lang="en-US" altLang="ru-RU"/>
            </a:br>
            <a:r>
              <a:rPr lang="en-US" altLang="en-US"/>
              <a:t>Диаграмма</a:t>
            </a:r>
            <a:r>
              <a:rPr lang="en-US" altLang="ru-RU"/>
              <a:t> </a:t>
            </a:r>
            <a:r>
              <a:rPr lang="en-US" altLang="en-US"/>
              <a:t>деятельности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6" name="Изображение 5" descr="1111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0" y="2712720"/>
            <a:ext cx="5217795" cy="2273300"/>
          </a:xfrm>
          <a:prstGeom prst="rect">
            <a:avLst/>
          </a:prstGeom>
        </p:spPr>
      </p:pic>
      <p:pic>
        <p:nvPicPr>
          <p:cNvPr id="7" name="Изображение 6" descr="22222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825" y="1990725"/>
            <a:ext cx="4385945" cy="42392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graphicFrame>
        <p:nvGraphicFramePr>
          <p:cNvPr id="8" name="Замещающее содержимое 7"/>
          <p:cNvGraphicFramePr/>
          <p:nvPr>
            <p:ph idx="1"/>
          </p:nvPr>
        </p:nvGraphicFramePr>
        <p:xfrm>
          <a:off x="607060" y="1825625"/>
          <a:ext cx="4806315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860"/>
                <a:gridCol w="1084580"/>
                <a:gridCol w="1391285"/>
                <a:gridCol w="11645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Сущность</a:t>
                      </a:r>
                      <a:endParaRPr lang="en-US" altLang="zh-CN" sz="12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Атрибуты</a:t>
                      </a:r>
                      <a:endParaRPr lang="en-US" altLang="zh-CN" sz="12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Тип данных</a:t>
                      </a:r>
                      <a:endParaRPr lang="en-US" altLang="zh-CN" sz="12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altLang="zh-CN" sz="12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Описание</a:t>
                      </a:r>
                      <a:endParaRPr lang="en-US" altLang="zh-CN" sz="12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Category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id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INTEGER (PK)</a:t>
                      </a:r>
                      <a:endParaRPr lang="en-US" altLang="zh-CN" sz="12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Уникальный идентификатор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name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TEXT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Название категории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icon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TEXT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Эмодзи-иконка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color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INTEGER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Цвет категории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Expense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id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INTEGER (PK)</a:t>
                      </a:r>
                      <a:endParaRPr lang="en-US" altLang="zh-CN" sz="12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Уникальный идентификатор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name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TEXT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Название расхода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amount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REAL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Сумма расхода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date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TEXT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Дата расхода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ru-RU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categoryId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INTEGER (PK)</a:t>
                      </a:r>
                      <a:endParaRPr lang="en-US" altLang="zh-CN" sz="12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ea typeface="quote-cjk-patch"/>
                          <a:cs typeface="Times New Roman" panose="02020603050405020304" charset="0"/>
                          <a:sym typeface="+mn-ea"/>
                        </a:rPr>
                        <a:t>Ссылка на категорию</a:t>
                      </a:r>
                      <a:endParaRPr lang="en-US" altLang="zh-CN" sz="120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Изображение 5" descr="333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6100" y="1949450"/>
            <a:ext cx="6069965" cy="3623310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3556000" y="1086485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sz="1700" b="1">
                <a:solidFill>
                  <a:srgbClr val="0F1115"/>
                </a:solidFill>
                <a:latin typeface="quote-cjk-patch"/>
                <a:ea typeface="quote-cjk-patch"/>
              </a:rPr>
              <a:t>Инфологическая модель</a:t>
            </a:r>
            <a:endParaRPr lang="en-US" altLang="zh-CN"/>
          </a:p>
        </p:txBody>
      </p:sp>
      <p:graphicFrame>
        <p:nvGraphicFramePr>
          <p:cNvPr id="7" name="Таблица 6"/>
          <p:cNvGraphicFramePr/>
          <p:nvPr>
            <p:custDataLst>
              <p:tags r:id="rId2"/>
            </p:custDataLst>
          </p:nvPr>
        </p:nvGraphicFramePr>
        <p:xfrm>
          <a:off x="12322810" y="2802890"/>
          <a:ext cx="1068705" cy="4286250"/>
        </p:xfrm>
        <a:graphic>
          <a:graphicData uri="http://schemas.openxmlformats.org/drawingml/2006/table">
            <a:tbl>
              <a:tblPr/>
              <a:tblGrid>
                <a:gridCol w="152400"/>
                <a:gridCol w="305435"/>
                <a:gridCol w="280236"/>
                <a:gridCol w="330634"/>
              </a:tblGrid>
              <a:tr h="428625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8625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8625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8625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8625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8625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8625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8625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8625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8625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lang="en-US" altLang="zh-CN" sz="1100" b="0">
                        <a:latin typeface="Times New Roman" panose="02020603050405020304" charset="0"/>
                        <a:ea typeface="quote-cjk-patch"/>
                        <a:cs typeface="Times New Roman" panose="02020603050405020304" charset="0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28905"/>
          </a:xfrm>
        </p:spPr>
        <p:txBody>
          <a:bodyPr>
            <a:normAutofit fontScale="90000"/>
          </a:bodyPr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515620"/>
            <a:ext cx="10515600" cy="5392420"/>
          </a:xfrm>
        </p:spPr>
        <p:txBody>
          <a:bodyPr/>
          <a:p>
            <a:r>
              <a:rPr lang="ru-RU" altLang="en-US"/>
              <a:t>1) добавить элемент(успешно)</a:t>
            </a:r>
            <a:endParaRPr lang="ru-RU" altLang="en-US"/>
          </a:p>
          <a:p>
            <a:r>
              <a:rPr lang="ru-RU" altLang="en-US"/>
              <a:t>2) удалить элемент(усппешно)</a:t>
            </a:r>
            <a:endParaRPr lang="ru-RU" altLang="en-US"/>
          </a:p>
        </p:txBody>
      </p:sp>
      <p:pic>
        <p:nvPicPr>
          <p:cNvPr id="6" name="Изображение 5" descr="добавить чтотт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2095" y="387350"/>
            <a:ext cx="5831205" cy="2894330"/>
          </a:xfrm>
          <a:prstGeom prst="rect">
            <a:avLst/>
          </a:prstGeom>
        </p:spPr>
      </p:pic>
      <p:pic>
        <p:nvPicPr>
          <p:cNvPr id="7" name="Изображение 6" descr="удал чтот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095" y="3281680"/>
            <a:ext cx="5836920" cy="28822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94260" y="2766060"/>
            <a:ext cx="10515600" cy="1325563"/>
          </a:xfrm>
        </p:spPr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31445"/>
            <a:ext cx="10515600" cy="6045835"/>
          </a:xfrm>
        </p:spPr>
        <p:txBody>
          <a:bodyPr>
            <a:normAutofit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Итоги</a:t>
            </a:r>
            <a:r>
              <a:rPr lang="en-US" altLang="ru-RU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проделанной</a:t>
            </a:r>
            <a:r>
              <a:rPr lang="en-US" altLang="ru-RU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работы</a:t>
            </a:r>
            <a:r>
              <a:rPr lang="ru-RU" altLang="en-US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результате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выполнения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проектной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работы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Разработано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кроссплатформенное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приложение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MoneyVore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»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учёта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расходов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Реализован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полный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набор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CRUD-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операций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Добавление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расходов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выбором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категории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Просмотр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списка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фильтрацией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поиском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Редактирование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существующих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записей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Удаление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записей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свайпом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подтверждением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Реализован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удобный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поиск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названию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точной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сумме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Обеспечена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тёмная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тема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адаптивный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интерфейс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✅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Проведено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тестирование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подтвердившее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работоспособность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25*6"/>
  <p:tag name="TABLE_ENDDRAG_RECT" val="802*209*25*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3084</Words>
  <Application>WPS Presentation</Application>
  <PresentationFormat>宽屏</PresentationFormat>
  <Paragraphs>199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Calibri Light</vt:lpstr>
      <vt:lpstr>Times New Roman</vt:lpstr>
      <vt:lpstr>quote-cjk-patch</vt:lpstr>
      <vt:lpstr>Segoe Print</vt:lpstr>
      <vt:lpstr>Microsoft YaHei</vt:lpstr>
      <vt:lpstr>Arial Unicode MS</vt:lpstr>
      <vt:lpstr>Calibri</vt:lpstr>
      <vt:lpstr>Office Theme</vt:lpstr>
      <vt:lpstr>АВТОНОМНАЯ НЕКОММЕРЧЕСКАЯ ОРГАНИЗАЦИЯ ПРОФЕССИОНАЛЬНАЯ ОБРАЗОВАТЕЛЬНАЯ ОРГАНИЗАЦИЯ МОСКОВСКИЙ МЕЖДУНАРОДНЫЙ КОЛЛЕДЖ ЦИФРОВЫХ ТЕХНОЛОГИЙ «АКАДЕМИЯ ТОП»  </vt:lpstr>
      <vt:lpstr>Цель и задачи проектного проектирования</vt:lpstr>
      <vt:lpstr>PowerPoint 演示文稿</vt:lpstr>
      <vt:lpstr>Инструментальные средства разработки</vt:lpstr>
      <vt:lpstr>Диаграмма вариантов использования Диаграмма деятельности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Алена</dc:creator>
  <cp:lastModifiedBy>Алена</cp:lastModifiedBy>
  <cp:revision>7</cp:revision>
  <dcterms:created xsi:type="dcterms:W3CDTF">2025-07-23T00:59:00Z</dcterms:created>
  <dcterms:modified xsi:type="dcterms:W3CDTF">2026-06-23T17:26:12Z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1049-12.2.0.23203</vt:lpwstr>
  </property>
  <property fmtid="{D5CDD505-2E9C-101B-9397-08002B2CF9AE}" pid="3" name="ICV">
    <vt:lpwstr>6C77D92E3D324713AE52D448DD17AB82_13</vt:lpwstr>
  </property>
</Properties>
</file>